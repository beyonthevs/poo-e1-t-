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 Jour Serif" charset="1" panose="02000500000000000000"/>
      <p:regular r:id="rId22"/>
    </p:embeddedFont>
    <p:embeddedFont>
      <p:font typeface="Forum" charset="1" panose="02000000000000000000"/>
      <p:regular r:id="rId23"/>
    </p:embeddedFont>
    <p:embeddedFont>
      <p:font typeface="Bebas Neue" charset="1" panose="00000500000000000000"/>
      <p:regular r:id="rId24"/>
    </p:embeddedFont>
    <p:embeddedFont>
      <p:font typeface="Helvetica World" charset="1" panose="020B0500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VAHWQ1JfoZY.mp4" Type="http://schemas.openxmlformats.org/officeDocument/2006/relationships/video"/><Relationship Id="rId4" Target="../media/VAHWQ1JfoZY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71428" y="725417"/>
            <a:ext cx="11818859" cy="188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7622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Simulador de sistema hospitalario- Etapa 1</a:t>
            </a:r>
          </a:p>
        </p:txBody>
      </p:sp>
      <p:sp>
        <p:nvSpPr>
          <p:cNvPr name="AutoShape 3" id="3"/>
          <p:cNvSpPr/>
          <p:nvPr/>
        </p:nvSpPr>
        <p:spPr>
          <a:xfrm>
            <a:off x="3823074" y="2624790"/>
            <a:ext cx="101856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9924" y="3353841"/>
            <a:ext cx="15381866" cy="62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4841" spc="484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UNIVERSIDAD NACIONAL AUTÓNOMA DE MÉXICO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9924" y="4088299"/>
            <a:ext cx="15381866" cy="62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4841" spc="484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FACULTAD DE INGENIERÍA | POO GPO: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7434" y="5257800"/>
            <a:ext cx="15381866" cy="62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4841" spc="484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PROFESOR: RENÉ ADRIÁN DÁVILA PÉREZ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413" y="6411357"/>
            <a:ext cx="15381866" cy="447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INTEGRANTES: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-BAZÁN PANTALEÓN ROSA MARÍA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-GARCÍA RIVERA GABRIEL EDUARDO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-PADRÓN LÓPEZ MARÍA FERNANDA CORINA 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-TOLEDO VALENCIA AIMÉE GUADALUPE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-VITLA HERRERA CESAR ANTONIO</a:t>
            </a:r>
          </a:p>
          <a:p>
            <a:pPr algn="ctr">
              <a:lnSpc>
                <a:spcPts val="4409"/>
              </a:lnSpc>
            </a:pPr>
          </a:p>
          <a:p>
            <a:pPr algn="ctr">
              <a:lnSpc>
                <a:spcPts val="440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83707" y="838200"/>
            <a:ext cx="7717582" cy="166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0"/>
              </a:lnSpc>
              <a:spcBef>
                <a:spcPct val="0"/>
              </a:spcBef>
            </a:pPr>
            <a:r>
              <a:rPr lang="en-US" sz="97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Contenido</a:t>
            </a:r>
          </a:p>
        </p:txBody>
      </p:sp>
      <p:sp>
        <p:nvSpPr>
          <p:cNvPr name="AutoShape 3" id="3"/>
          <p:cNvSpPr/>
          <p:nvPr/>
        </p:nvSpPr>
        <p:spPr>
          <a:xfrm>
            <a:off x="4983707" y="2496819"/>
            <a:ext cx="832058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877434" y="3278771"/>
            <a:ext cx="15381866" cy="612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1) PORTADA 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2) OBJETIVO DEL SIMULADOR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3)CONDICIONES DEL HOSPITAL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4) DIAGRAMA UML Y CLASES DEL SITEMA 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5)SOBRECARGA Y FLUJO DE DATOS 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6)LÓGICA ALGORÍTMICA Y MÉTODOS CLAVE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7)ESTRUCTURA DEL MENÚ PRINCIPAL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8)ESTRUCTURA DEL ALGORITMO DE ORDENAMIENTO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9)EJECUCIÓN DEL SIMULADOR EN TERMINAL</a:t>
            </a:r>
          </a:p>
          <a:p>
            <a:pPr algn="just">
              <a:lnSpc>
                <a:spcPts val="4409"/>
              </a:lnSpc>
            </a:pPr>
            <a:r>
              <a:rPr lang="en-US" sz="4641" spc="464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10)CONCLUSIÓN DEL AVANCE</a:t>
            </a:r>
          </a:p>
          <a:p>
            <a:pPr algn="just">
              <a:lnSpc>
                <a:spcPts val="440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4669" y="423704"/>
            <a:ext cx="13435833" cy="197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sz="64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¿DE QUÉ TRATA NUESTRO PROYECTO?</a:t>
            </a:r>
          </a:p>
        </p:txBody>
      </p:sp>
      <p:sp>
        <p:nvSpPr>
          <p:cNvPr name="AutoShape 3" id="3"/>
          <p:cNvSpPr/>
          <p:nvPr/>
        </p:nvSpPr>
        <p:spPr>
          <a:xfrm>
            <a:off x="3803255" y="2407698"/>
            <a:ext cx="11995599" cy="22071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11904" y="3243854"/>
            <a:ext cx="7811987" cy="5755362"/>
          </a:xfrm>
          <a:custGeom>
            <a:avLst/>
            <a:gdLst/>
            <a:ahLst/>
            <a:cxnLst/>
            <a:rect r="r" b="b" t="t" l="l"/>
            <a:pathLst>
              <a:path h="5755362" w="7811987">
                <a:moveTo>
                  <a:pt x="0" y="0"/>
                </a:moveTo>
                <a:lnTo>
                  <a:pt x="7811987" y="0"/>
                </a:lnTo>
                <a:lnTo>
                  <a:pt x="7811987" y="5755361"/>
                </a:lnTo>
                <a:lnTo>
                  <a:pt x="0" y="5755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03" y="2723494"/>
            <a:ext cx="9808083" cy="756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1"/>
              </a:lnSpc>
            </a:pPr>
            <a:r>
              <a:rPr lang="en-US" sz="4180" spc="41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OBJETIVO DEL SIMULADOR:</a:t>
            </a:r>
          </a:p>
          <a:p>
            <a:pPr algn="just">
              <a:lnSpc>
                <a:spcPts val="3971"/>
              </a:lnSpc>
            </a:pPr>
            <a:r>
              <a:rPr lang="en-US" sz="4180" spc="41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just">
              <a:lnSpc>
                <a:spcPts val="3971"/>
              </a:lnSpc>
            </a:pPr>
            <a:r>
              <a:rPr lang="en-US" sz="4180" spc="41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Crear un sistema en Java que simule el control y la atención dentro de un hospital. </a:t>
            </a:r>
          </a:p>
          <a:p>
            <a:pPr algn="just">
              <a:lnSpc>
                <a:spcPts val="3971"/>
              </a:lnSpc>
            </a:pPr>
          </a:p>
          <a:p>
            <a:pPr algn="just">
              <a:lnSpc>
                <a:spcPts val="3971"/>
              </a:lnSpc>
            </a:pPr>
            <a:r>
              <a:rPr lang="en-US" sz="4180" spc="41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Registrar y gestionar el trabajo de Médicos, Enfermeros y la atención a Pacientes. </a:t>
            </a:r>
          </a:p>
          <a:p>
            <a:pPr algn="just">
              <a:lnSpc>
                <a:spcPts val="3971"/>
              </a:lnSpc>
            </a:pPr>
          </a:p>
          <a:p>
            <a:pPr algn="just">
              <a:lnSpc>
                <a:spcPts val="3971"/>
              </a:lnSpc>
            </a:pPr>
            <a:r>
              <a:rPr lang="en-US" sz="4180" spc="41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Controlar las citas, las consultas y los tratamientos de forma ordenada. </a:t>
            </a:r>
          </a:p>
          <a:p>
            <a:pPr algn="just">
              <a:lnSpc>
                <a:spcPts val="397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524573" y="1417098"/>
            <a:ext cx="1205866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24814" y="2008052"/>
            <a:ext cx="6706232" cy="4872318"/>
          </a:xfrm>
          <a:custGeom>
            <a:avLst/>
            <a:gdLst/>
            <a:ahLst/>
            <a:cxnLst/>
            <a:rect r="r" b="b" t="t" l="l"/>
            <a:pathLst>
              <a:path h="4872318" w="6706232">
                <a:moveTo>
                  <a:pt x="0" y="0"/>
                </a:moveTo>
                <a:lnTo>
                  <a:pt x="6706232" y="0"/>
                </a:lnTo>
                <a:lnTo>
                  <a:pt x="6706232" y="4872318"/>
                </a:lnTo>
                <a:lnTo>
                  <a:pt x="0" y="487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56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8637" y="6880370"/>
            <a:ext cx="4671872" cy="3089362"/>
          </a:xfrm>
          <a:custGeom>
            <a:avLst/>
            <a:gdLst/>
            <a:ahLst/>
            <a:cxnLst/>
            <a:rect r="r" b="b" t="t" l="l"/>
            <a:pathLst>
              <a:path h="3089362" w="4671872">
                <a:moveTo>
                  <a:pt x="0" y="0"/>
                </a:moveTo>
                <a:lnTo>
                  <a:pt x="4671872" y="0"/>
                </a:lnTo>
                <a:lnTo>
                  <a:pt x="4671872" y="3089362"/>
                </a:lnTo>
                <a:lnTo>
                  <a:pt x="0" y="308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4669" y="423704"/>
            <a:ext cx="13435833" cy="98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sz="64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CONDICIONES DEL HOSPITAL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85345" y="2703959"/>
            <a:ext cx="10902655" cy="843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REGLAS PRINCIPALES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Especialidad: Pacientes asignados únicamente al personal de su misma área de atención.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Médicos: Atienden hasta 10 pacientes y dan consulta a 1 a la vez.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Enfermeros: Cuidan hasta 3 pacientes simultáneamente de la misma especialidad.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Listas: Ordenadas en formato alfabético descendente mostrando nombres y especialidades.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9373" y="1028700"/>
            <a:ext cx="10674217" cy="6804814"/>
          </a:xfrm>
          <a:custGeom>
            <a:avLst/>
            <a:gdLst/>
            <a:ahLst/>
            <a:cxnLst/>
            <a:rect r="r" b="b" t="t" l="l"/>
            <a:pathLst>
              <a:path h="6804814" w="10674217">
                <a:moveTo>
                  <a:pt x="0" y="0"/>
                </a:moveTo>
                <a:lnTo>
                  <a:pt x="10674217" y="0"/>
                </a:lnTo>
                <a:lnTo>
                  <a:pt x="10674217" y="6804814"/>
                </a:lnTo>
                <a:lnTo>
                  <a:pt x="0" y="6804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0866" y="506448"/>
            <a:ext cx="5086121" cy="8076625"/>
          </a:xfrm>
          <a:custGeom>
            <a:avLst/>
            <a:gdLst/>
            <a:ahLst/>
            <a:cxnLst/>
            <a:rect r="r" b="b" t="t" l="l"/>
            <a:pathLst>
              <a:path h="8076625" w="5086121">
                <a:moveTo>
                  <a:pt x="0" y="0"/>
                </a:moveTo>
                <a:lnTo>
                  <a:pt x="5086122" y="0"/>
                </a:lnTo>
                <a:lnTo>
                  <a:pt x="5086122" y="8076624"/>
                </a:lnTo>
                <a:lnTo>
                  <a:pt x="0" y="8076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615" y="339355"/>
            <a:ext cx="7459583" cy="9342386"/>
          </a:xfrm>
          <a:custGeom>
            <a:avLst/>
            <a:gdLst/>
            <a:ahLst/>
            <a:cxnLst/>
            <a:rect r="r" b="b" t="t" l="l"/>
            <a:pathLst>
              <a:path h="9342386" w="7459583">
                <a:moveTo>
                  <a:pt x="0" y="0"/>
                </a:moveTo>
                <a:lnTo>
                  <a:pt x="7459583" y="0"/>
                </a:lnTo>
                <a:lnTo>
                  <a:pt x="7459583" y="9342386"/>
                </a:lnTo>
                <a:lnTo>
                  <a:pt x="0" y="934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56776" y="605259"/>
            <a:ext cx="7003550" cy="9076482"/>
          </a:xfrm>
          <a:custGeom>
            <a:avLst/>
            <a:gdLst/>
            <a:ahLst/>
            <a:cxnLst/>
            <a:rect r="r" b="b" t="t" l="l"/>
            <a:pathLst>
              <a:path h="9076482" w="7003550">
                <a:moveTo>
                  <a:pt x="0" y="0"/>
                </a:moveTo>
                <a:lnTo>
                  <a:pt x="7003550" y="0"/>
                </a:lnTo>
                <a:lnTo>
                  <a:pt x="7003550" y="9076482"/>
                </a:lnTo>
                <a:lnTo>
                  <a:pt x="0" y="9076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87655" y="485471"/>
            <a:ext cx="7292336" cy="9152458"/>
          </a:xfrm>
          <a:custGeom>
            <a:avLst/>
            <a:gdLst/>
            <a:ahLst/>
            <a:cxnLst/>
            <a:rect r="r" b="b" t="t" l="l"/>
            <a:pathLst>
              <a:path h="9152458" w="7292336">
                <a:moveTo>
                  <a:pt x="0" y="0"/>
                </a:moveTo>
                <a:lnTo>
                  <a:pt x="7292337" y="0"/>
                </a:lnTo>
                <a:lnTo>
                  <a:pt x="7292337" y="9152458"/>
                </a:lnTo>
                <a:lnTo>
                  <a:pt x="0" y="9152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4419" y="88021"/>
            <a:ext cx="6983168" cy="10155861"/>
          </a:xfrm>
          <a:custGeom>
            <a:avLst/>
            <a:gdLst/>
            <a:ahLst/>
            <a:cxnLst/>
            <a:rect r="r" b="b" t="t" l="l"/>
            <a:pathLst>
              <a:path h="10155861" w="6983168">
                <a:moveTo>
                  <a:pt x="0" y="0"/>
                </a:moveTo>
                <a:lnTo>
                  <a:pt x="6983168" y="0"/>
                </a:lnTo>
                <a:lnTo>
                  <a:pt x="6983168" y="10155861"/>
                </a:lnTo>
                <a:lnTo>
                  <a:pt x="0" y="1015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92090" y="131465"/>
            <a:ext cx="6948760" cy="10071005"/>
            <a:chOff x="0" y="0"/>
            <a:chExt cx="9265014" cy="1342800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60761" y="8739092"/>
              <a:ext cx="472249" cy="2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2"/>
                </a:lnSpc>
              </a:pPr>
              <a:r>
                <a:rPr lang="en-US" sz="673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Paciente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4581165" y="-19050"/>
              <a:ext cx="263170" cy="2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2"/>
                </a:lnSpc>
              </a:pPr>
              <a:r>
                <a:rPr lang="en-US" sz="673" spc="21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Main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472122" y="8713434"/>
              <a:ext cx="403312" cy="2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2"/>
                </a:lnSpc>
              </a:pPr>
              <a:r>
                <a:rPr lang="en-US" sz="673" spc="32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Médico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472122" y="3930474"/>
              <a:ext cx="435391" cy="2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2"/>
                </a:lnSpc>
              </a:pPr>
              <a:r>
                <a:rPr lang="en-US" sz="673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Sistema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749850" y="8739092"/>
              <a:ext cx="567837" cy="207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2"/>
                </a:lnSpc>
              </a:pPr>
              <a:r>
                <a:rPr lang="en-US" sz="673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Enfermero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14765" y="8123212"/>
              <a:ext cx="234501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0..100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950662"/>
              <a:ext cx="2646682" cy="2700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nombre: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especialidadAtencion: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estado: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sistema: Sistema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medicoAsignado: Medico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enfermeroAsignado: Enfermero</a:t>
              </a:r>
            </a:p>
            <a:p>
              <a:pPr algn="l">
                <a:lnSpc>
                  <a:spcPts val="732"/>
                </a:lnSpc>
                <a:spcBef>
                  <a:spcPts val="340"/>
                </a:spcBef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Paciente(nombre: String, especialidadAtencion: String)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registroEnSistema(sistema: Sistema):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solicitarConsulta(medico: Medico):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verTratamiento():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getNombre():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setNombre(nombre: String):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getEspecialidadAtencion():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setEspecialidadAtencion( especialidadAtencion: String): void + getEstado():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getMedicoAsignado(): Medico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getEnfermeroAsignado(): Enfermero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getSistema(): Sistema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setMedicoAsignado(medicoAsignado: Medico):void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8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setEnfermeroAsignado( enfermeroAsignado: Enfermero): void + setEstado(estado: String): void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815083" y="10791578"/>
              <a:ext cx="408469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0..1 a 0..10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593994" y="13267510"/>
              <a:ext cx="149194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 spc="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0..3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818496" y="3716559"/>
              <a:ext cx="48503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718005" y="8364818"/>
              <a:ext cx="234501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0..100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805030" y="217322"/>
              <a:ext cx="1751550" cy="2716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"/>
                </a:lnSpc>
              </a:pPr>
              <a:r>
                <a:rPr lang="en-US" sz="505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-entrada: Scanner {static, final}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6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-sistema: Sistema : {static}</a:t>
              </a:r>
            </a:p>
            <a:p>
              <a:pPr algn="l">
                <a:lnSpc>
                  <a:spcPts val="732"/>
                </a:lnSpc>
                <a:spcBef>
                  <a:spcPts val="437"/>
                </a:spcBef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+main(args: String[]):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-mostrarMenu():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-registrarMedico(): void -registrarEnfermero(): void -registrarPaciente(): void -asignarPacienteMedico(): void -asignarPacienteEnfermero(): void -solicitarConsulta(): void -darTratamientoMedico(): void -darTratamientoEnfermero(): void -verListaMedico(): void -verListaEnfermero(): void -verEstadoPaciente(): void -mostrarResumen(): void -buscarMedicoPorCedula(): Medico -buscarEnfermeroPorCedula(): Enfermero -buscarPacientePorNombre(): Paciente -leerTexto(mensaje: String): String -leerEntero(mensaje: String): int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18496" y="2998153"/>
              <a:ext cx="48503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411617" y="8952800"/>
              <a:ext cx="1320777" cy="906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nombre: String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cedula: String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especialidad: String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noPacientes: int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pacientes: Paciente[]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pacienteEnConsulta: Paciente - sistema: Sistema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422308" y="9887155"/>
              <a:ext cx="2569001" cy="2146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Medico(nombre: String, cedula: String, especialidad: String) + registroEnSistema(sistema: Sistema): boolean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solicitarPaciente(): Paciente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darConsulta(paciente: Paciente):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darTratamiento(paciente: Paciente):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verListaPacientes():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agregarPaciente(paciente: Paciente):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getPacienteAsignado(paciente: Paciente): Paciente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getNombre():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setNombre(nombre: String):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getCedula():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setCedula(cedula: String):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getEspecialidad():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+setEspecialidad(especialidad: String):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getNoPacientes(): int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getPacienteEnConsulta(): Paciente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getSistema(): Sistema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272640" y="4201911"/>
              <a:ext cx="1106360" cy="906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nombreHospital: String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noMedicos: int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noEnfermeros: int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noPacientes: int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medicos: Medico[] </a:t>
              </a:r>
            </a:p>
            <a:p>
              <a:pPr algn="l">
                <a:lnSpc>
                  <a:spcPts val="734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enfermeros: Enfermero[] - pacientes: Paciente[]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178563" y="5185443"/>
              <a:ext cx="2955212" cy="2518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Sistema(nombreHospital: String)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registroMedico(medico: Medico):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registroEnfermero(enfermero: Enfermero):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registroPaciente( paciente: Paciente):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asignarPaciente( paciente: Paciente, medico: Medico):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asignarPaciente( paciente: Paciente, enfermero: Enfermero): boolean - estaRegistrado(paciente: Paciente):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estaRegistrado(medico: Medico):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estaRegistrado(enfermero: Enfermero): boolean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buscarMedico(cedula: String): Medico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buscarEnfermero(cedula: String): Enfermero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buscarPaciente(nombre: String): Paciente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getNombreHospital():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setNombreHospital(nombreHospital: String): void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getNoMedicos(): int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getNoEnfermeros(): int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getNoPacientes(): int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getMedicos(): Medico[]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getEnfermeros(): Enfermero[]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getPacientes(): Paciente[]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522573" y="8103969"/>
              <a:ext cx="234501" cy="160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7"/>
                </a:lnSpc>
              </a:pPr>
              <a:r>
                <a:rPr lang="en-US" sz="505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0..100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864671" y="8974181"/>
              <a:ext cx="959101" cy="78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nombre: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cedula: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especialidad: String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noPacientes: int </a:t>
              </a:r>
            </a:p>
            <a:p>
              <a:pPr algn="l">
                <a:lnSpc>
                  <a:spcPts val="732"/>
                </a:lnSpc>
              </a:pPr>
              <a:r>
                <a:rPr lang="en-US" sz="505" spc="17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 pacientes: Paciente[] - sistema: Sistema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871085" y="9827288"/>
              <a:ext cx="2393928" cy="1898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Enfermero(nombre: String, cedula: String, especialidad: String)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registroEnSistema(sistema: Sistema): boolean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verListaPacientes(): String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darTratamiento(paciente: Paciente): boolean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agregarPaciente(paciente: Paciente): boolean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getPacienteAsignado( paciente: Paciente): Paciente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getNombre(): String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setNombre(nombre: String): void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getCedula(): String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setCedula(cedula: String): void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getEspecialidad(): String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setEspecialidad(especialidad: String): void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getNoPacientes(): int </a:t>
              </a:r>
            </a:p>
            <a:p>
              <a:pPr algn="just">
                <a:lnSpc>
                  <a:spcPts val="733"/>
                </a:lnSpc>
              </a:pPr>
              <a:r>
                <a:rPr lang="en-US" sz="505" spc="14">
                  <a:solidFill>
                    <a:srgbClr val="000000">
                      <a:alpha val="0"/>
                    </a:srgbClr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+ getSistema(): Sistema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2134" y="1860650"/>
            <a:ext cx="1490373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23718" y="518298"/>
            <a:ext cx="16841185" cy="98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sz="64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DIAGRAMA UML Y CLASES DEL SISTEMA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6506" y="2586886"/>
            <a:ext cx="15956177" cy="517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MODELADO DE CLASES (UML)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Clase Sistema: Administra los registros de personal y pacientes mediante arreglos.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Clases Entidad: Medico, Enfermero y Paciente con atributos privados y getters/setters.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Relaciones: Asociación entre el sistema y el personal/pacientes (hasta 100 registros). 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2134" y="1860650"/>
            <a:ext cx="1490373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28745" y="2774036"/>
            <a:ext cx="5814501" cy="5720529"/>
          </a:xfrm>
          <a:custGeom>
            <a:avLst/>
            <a:gdLst/>
            <a:ahLst/>
            <a:cxnLst/>
            <a:rect r="r" b="b" t="t" l="l"/>
            <a:pathLst>
              <a:path h="5720529" w="5814501">
                <a:moveTo>
                  <a:pt x="0" y="0"/>
                </a:moveTo>
                <a:lnTo>
                  <a:pt x="5814500" y="0"/>
                </a:lnTo>
                <a:lnTo>
                  <a:pt x="5814500" y="5720529"/>
                </a:lnTo>
                <a:lnTo>
                  <a:pt x="0" y="5720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1914" y="623944"/>
            <a:ext cx="16257386" cy="94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1"/>
              </a:lnSpc>
            </a:pPr>
            <a:r>
              <a:rPr lang="en-US" sz="71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SOBRECARGA Y FLUJO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09322" y="3300714"/>
            <a:ext cx="8530466" cy="563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INTERACCIÓN ENTRE OBJETOS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Sobrecarga de Métodos: El método asignarPaciente() se adapta si el paciente va con un médico o un enfermero.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Atributos de Estado: El paciente cambia su condición según la etapa (PENDIENTE, EN CONSULTA, EN TRATAMIENTO). 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2134" y="1860650"/>
            <a:ext cx="1490373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771134" y="2432733"/>
            <a:ext cx="8108674" cy="6349353"/>
          </a:xfrm>
          <a:custGeom>
            <a:avLst/>
            <a:gdLst/>
            <a:ahLst/>
            <a:cxnLst/>
            <a:rect r="r" b="b" t="t" l="l"/>
            <a:pathLst>
              <a:path h="6349353" w="8108674">
                <a:moveTo>
                  <a:pt x="0" y="0"/>
                </a:moveTo>
                <a:lnTo>
                  <a:pt x="8108674" y="0"/>
                </a:lnTo>
                <a:lnTo>
                  <a:pt x="8108674" y="6349352"/>
                </a:lnTo>
                <a:lnTo>
                  <a:pt x="0" y="6349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485" t="0" r="-2488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4797" y="573216"/>
            <a:ext cx="16134503" cy="90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59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Lógica Alg</a:t>
            </a:r>
            <a:r>
              <a:rPr lang="en-US" sz="59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orítmica y Métodos Clave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6172" y="2518458"/>
            <a:ext cx="9123514" cy="750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ESTRUCTURA DE LOS ALGORITMOS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Registro de Entidades: Validación para evitar registros duplicados por cédula o nombre.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Consultas y Citas: Verificación de disponibilidad de cupo y coincidencia de especialidad.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 </a:t>
            </a: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Ordenamiento: Copia de arreglos y ordenamiento descendente por método de intercambio alfabético. 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92134" y="1860650"/>
            <a:ext cx="1490373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27200" y="3067654"/>
            <a:ext cx="7898055" cy="5374918"/>
          </a:xfrm>
          <a:custGeom>
            <a:avLst/>
            <a:gdLst/>
            <a:ahLst/>
            <a:cxnLst/>
            <a:rect r="r" b="b" t="t" l="l"/>
            <a:pathLst>
              <a:path h="5374918" w="7898055">
                <a:moveTo>
                  <a:pt x="0" y="0"/>
                </a:moveTo>
                <a:lnTo>
                  <a:pt x="7898055" y="0"/>
                </a:lnTo>
                <a:lnTo>
                  <a:pt x="7898055" y="5374918"/>
                </a:lnTo>
                <a:lnTo>
                  <a:pt x="0" y="537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6333" y="792463"/>
            <a:ext cx="15792967" cy="77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5"/>
              </a:lnSpc>
            </a:pPr>
            <a:r>
              <a:rPr lang="en-US" sz="71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ESTRUCTURA DEL MENÚ PRINCIPAL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42881" y="3153379"/>
            <a:ext cx="8416419" cy="610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MENÚ INTERACTIVO EN CONSOLA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Lectura continua: Menú de opciones (1 al 12) gestionado con la clase Scanner y un bucle principal. 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Navegación: Opciones para dar de alta, asignar citas, dar consultas, aplicar tratamientos y mostrar listas ordenadas. 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7517" y="671894"/>
            <a:ext cx="15792967" cy="118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8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ESTRUCTURA DEL ALGORITMO DE ORDENAMIENTO </a:t>
            </a:r>
          </a:p>
        </p:txBody>
      </p:sp>
      <p:sp>
        <p:nvSpPr>
          <p:cNvPr name="AutoShape 3" id="3"/>
          <p:cNvSpPr/>
          <p:nvPr/>
        </p:nvSpPr>
        <p:spPr>
          <a:xfrm>
            <a:off x="1692134" y="1860650"/>
            <a:ext cx="1490373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894710" y="3067006"/>
            <a:ext cx="7932857" cy="5734455"/>
          </a:xfrm>
          <a:custGeom>
            <a:avLst/>
            <a:gdLst/>
            <a:ahLst/>
            <a:cxnLst/>
            <a:rect r="r" b="b" t="t" l="l"/>
            <a:pathLst>
              <a:path h="5734455" w="7932857">
                <a:moveTo>
                  <a:pt x="0" y="0"/>
                </a:moveTo>
                <a:lnTo>
                  <a:pt x="7932857" y="0"/>
                </a:lnTo>
                <a:lnTo>
                  <a:pt x="7932857" y="5734456"/>
                </a:lnTo>
                <a:lnTo>
                  <a:pt x="0" y="573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6658" y="2509237"/>
            <a:ext cx="9275836" cy="797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VISUALIZACIÓN ORDENADA DE PACIENTES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Protección de Datos: Creación de una copia auxiliar del arreglo para no alterar el original.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Criterio Descendente: Uso de compareToIgnoreCase para ordenar de la Z a la A por nombre.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Formato: Despliegue en consola de Nombre, Apellido y Especialidad.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24950" y="1686477"/>
            <a:ext cx="1408101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633977" y="2290363"/>
            <a:ext cx="9625323" cy="750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VISUALIZACIÓN ORDENADA DE PACIENTES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Protección de Datos: Creación de una copia auxiliar del arreglo para no alterar el original.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Criterio Descendente: Uso de compareToIgnoreCase para ordenar de la Z a la A por nombre.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Formato: Despliegue en consola de Nombre, Apellido y Especialidad.</a:t>
            </a:r>
          </a:p>
          <a:p>
            <a:pPr algn="just">
              <a:lnSpc>
                <a:spcPts val="368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3117" y="2709072"/>
            <a:ext cx="5695089" cy="5741390"/>
          </a:xfrm>
          <a:custGeom>
            <a:avLst/>
            <a:gdLst/>
            <a:ahLst/>
            <a:cxnLst/>
            <a:rect r="r" b="b" t="t" l="l"/>
            <a:pathLst>
              <a:path h="5741390" w="5695089">
                <a:moveTo>
                  <a:pt x="0" y="0"/>
                </a:moveTo>
                <a:lnTo>
                  <a:pt x="5695089" y="0"/>
                </a:lnTo>
                <a:lnTo>
                  <a:pt x="5695089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6333" y="834372"/>
            <a:ext cx="15792967" cy="63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8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 EJECUCIÓN DEL SIMULADOR EN TERMINAL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24950" y="1686477"/>
            <a:ext cx="1408101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2000802"/>
            <a:ext cx="16230600" cy="808162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47517" y="735313"/>
            <a:ext cx="15792967" cy="63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8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 EJECUCIÓN DEL SIMULADOR EN TERMINAL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24950" y="1686477"/>
            <a:ext cx="1408101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742801" y="2211951"/>
            <a:ext cx="5363159" cy="7241780"/>
          </a:xfrm>
          <a:custGeom>
            <a:avLst/>
            <a:gdLst/>
            <a:ahLst/>
            <a:cxnLst/>
            <a:rect r="r" b="b" t="t" l="l"/>
            <a:pathLst>
              <a:path h="7241780" w="5363159">
                <a:moveTo>
                  <a:pt x="0" y="0"/>
                </a:moveTo>
                <a:lnTo>
                  <a:pt x="5363159" y="0"/>
                </a:lnTo>
                <a:lnTo>
                  <a:pt x="5363159" y="7241780"/>
                </a:lnTo>
                <a:lnTo>
                  <a:pt x="0" y="724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982" y="834372"/>
            <a:ext cx="15792967" cy="63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800">
                <a:solidFill>
                  <a:srgbClr val="000000"/>
                </a:solidFill>
                <a:latin typeface="Le Jour Serif"/>
                <a:ea typeface="Le Jour Serif"/>
                <a:cs typeface="Le Jour Serif"/>
                <a:sym typeface="Le Jour Serif"/>
              </a:rPr>
              <a:t> CONCLUSIÓN DEL AVANCE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8982" y="3681743"/>
            <a:ext cx="9161094" cy="610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ORIENTA</a:t>
            </a: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ción a Objetos: Implementación exitosa de las 4 clases requeridas (Sistema, Medico, Enfermero, Paciente).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Principios de POO: Encapsulamiento, sobrecarga y estructuras lineales aplicadas.</a:t>
            </a:r>
          </a:p>
          <a:p>
            <a:pPr algn="just">
              <a:lnSpc>
                <a:spcPts val="3686"/>
              </a:lnSpc>
            </a:pPr>
          </a:p>
          <a:p>
            <a:pPr algn="just">
              <a:lnSpc>
                <a:spcPts val="3686"/>
              </a:lnSpc>
            </a:pPr>
            <a:r>
              <a:rPr lang="en-US" sz="3880" spc="388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• Cumplimiento: Etapa 1 completada al 100% siguiendo las reglas del profesor.</a:t>
            </a:r>
          </a:p>
          <a:p>
            <a:pPr algn="just"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DAHWP6uDOPg</dc:identifier>
  <dcterms:modified xsi:type="dcterms:W3CDTF">2011-08-01T06:04:30Z</dcterms:modified>
  <cp:revision>1</cp:revision>
  <dc:title>Presentación - Cosmética natural - Negocio - Diapositivas elegantes y minimalistas, color beige</dc:title>
</cp:coreProperties>
</file>